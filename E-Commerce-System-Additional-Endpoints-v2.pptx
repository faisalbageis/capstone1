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Nunito Light"/>
      <p:regular r:id="rId11"/>
      <p:italic r:id="rId12"/>
    </p:embeddedFont>
    <p:embeddedFont>
      <p:font typeface="Nunito SemiBold"/>
      <p:regular r:id="rId13"/>
      <p:bold r:id="rId14"/>
    </p:embeddedFont>
    <p:embeddedFont>
      <p:font typeface="PT Sans Bold" panose="020B0503020203020204" pitchFamily="34" charset="77"/>
      <p:boldItalic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3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0267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n-S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565102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E-Commerce </a:t>
            </a:r>
            <a:r>
              <a:rPr lang="en-US" sz="365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System -Additional </a:t>
            </a: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Endpoints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4037608"/>
            <a:ext cx="6833223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Faisal Bageis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3151"/>
            <a:ext cx="10795524" cy="537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Buy Gift </a:t>
            </a:r>
            <a:r>
              <a:rPr lang="en-US" sz="3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🎁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98086" y="1534220"/>
            <a:ext cx="4727754" cy="588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115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Purpose:</a:t>
            </a: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Allows a user to purchase a product as a gift for another user.</a:t>
            </a:r>
            <a:endParaRPr lang="en-US" sz="11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Inputs:</a:t>
            </a: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User ID (Buyer), Product ID, Other User ID (Recipient)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98086" y="2352179"/>
            <a:ext cx="4727754" cy="2540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698086" y="2606973"/>
            <a:ext cx="5337339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Response Codes: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086" y="3011785"/>
          <a:ext cx="4727755" cy="3046042"/>
        </p:xfrm>
        <a:graphic>
          <a:graphicData uri="http://schemas.openxmlformats.org/drawingml/2006/table">
            <a:tbl>
              <a:tblPr/>
              <a:tblGrid>
                <a:gridCol w="1607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0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8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Code</a:t>
                      </a:r>
                      <a:endParaRPr lang="en-US" sz="11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80778" marR="1807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Meaning</a:t>
                      </a:r>
                      <a:endParaRPr lang="en-US" sz="11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80778" marR="1807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</a:t>
                      </a:r>
                      <a:endParaRPr lang="en-US" sz="11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80778" marR="1807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User not found</a:t>
                      </a:r>
                      <a:endParaRPr lang="en-US" sz="11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80778" marR="1807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</a:t>
                      </a:r>
                      <a:endParaRPr lang="en-US" sz="11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80778" marR="1807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Product not found</a:t>
                      </a:r>
                      <a:endParaRPr lang="en-US" sz="11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80778" marR="1807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</a:t>
                      </a:r>
                      <a:endParaRPr lang="en-US" sz="11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80778" marR="1807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Recipient not found</a:t>
                      </a:r>
                      <a:endParaRPr lang="en-US" sz="11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80778" marR="1807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</a:t>
                      </a:r>
                      <a:endParaRPr lang="en-US" sz="11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80778" marR="1807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Product out of stock</a:t>
                      </a:r>
                      <a:endParaRPr lang="en-US" sz="11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80778" marR="1807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4</a:t>
                      </a:r>
                      <a:endParaRPr lang="en-US" sz="11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80778" marR="1807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Insufficient balance</a:t>
                      </a:r>
                      <a:endParaRPr lang="en-US" sz="11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80778" marR="1807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8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8AC7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5</a:t>
                      </a:r>
                      <a:endParaRPr lang="en-US" sz="11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80778" marR="1807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8AC7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Gift purchased successfully</a:t>
                      </a:r>
                      <a:endParaRPr lang="en-US" sz="11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80778" marR="1807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98086" y="3433367"/>
            <a:ext cx="4727754" cy="112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698086" y="3869423"/>
            <a:ext cx="4727754" cy="112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Shape 6"/>
          <p:cNvSpPr/>
          <p:nvPr/>
        </p:nvSpPr>
        <p:spPr>
          <a:xfrm>
            <a:off x="698086" y="4305478"/>
            <a:ext cx="4727754" cy="112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698086" y="4741534"/>
            <a:ext cx="4727754" cy="112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Shape 8"/>
          <p:cNvSpPr/>
          <p:nvPr/>
        </p:nvSpPr>
        <p:spPr>
          <a:xfrm>
            <a:off x="698086" y="5177589"/>
            <a:ext cx="4727754" cy="112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Shape 9"/>
          <p:cNvSpPr/>
          <p:nvPr/>
        </p:nvSpPr>
        <p:spPr>
          <a:xfrm>
            <a:off x="698086" y="5613645"/>
            <a:ext cx="4727754" cy="112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3" name="Text 10"/>
          <p:cNvSpPr/>
          <p:nvPr/>
        </p:nvSpPr>
        <p:spPr>
          <a:xfrm>
            <a:off x="5873107" y="1534220"/>
            <a:ext cx="6236338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How It Works: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8809" y="1982837"/>
            <a:ext cx="255184" cy="318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2B42D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43601" y="2001143"/>
            <a:ext cx="5056259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Validate buyer, product, and recipient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5948809" y="2717155"/>
            <a:ext cx="255184" cy="318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D7425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443601" y="2735461"/>
            <a:ext cx="5056259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Check product availability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5948809" y="3451473"/>
            <a:ext cx="255184" cy="318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DD785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443601" y="3469779"/>
            <a:ext cx="5056259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Reduce product stock by one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5948809" y="4185791"/>
            <a:ext cx="255184" cy="318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48A8E2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43601" y="4204097"/>
            <a:ext cx="5056259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Check the buyer's balance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5948809" y="4920109"/>
            <a:ext cx="255184" cy="318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9ABA9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443601" y="4938415"/>
            <a:ext cx="5056259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Deduct the product price from the buyer's balance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5948809" y="5654427"/>
            <a:ext cx="255184" cy="318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2B42D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6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443601" y="5672733"/>
            <a:ext cx="5056259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Complete the gift purchase</a:t>
            </a:r>
            <a:endParaRPr lang="en-US" sz="165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7255"/>
            <a:ext cx="10795524" cy="510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Refund </a:t>
            </a:r>
            <a:r>
              <a:rPr lang="en-US" sz="3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💰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453283"/>
            <a:ext cx="5861499" cy="26826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86259" y="4505150"/>
            <a:ext cx="1100450" cy="199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Return Stock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3799390" y="4505150"/>
            <a:ext cx="1100450" cy="199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Credit Balance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2420058" y="4505150"/>
            <a:ext cx="1100450" cy="199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Retrieve Price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10577" y="4505150"/>
            <a:ext cx="1100450" cy="199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Validate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984032" y="1441252"/>
            <a:ext cx="4515828" cy="540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spcAft>
                <a:spcPts val="10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Purpose:</a:t>
            </a: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Allows a user to receive a refund for a purchased product.</a:t>
            </a:r>
            <a:endParaRPr lang="en-US" sz="10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Inputs:</a:t>
            </a: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User ID, Product ID, Merchant ID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984032" y="2147292"/>
            <a:ext cx="4515828" cy="758428"/>
          </a:xfrm>
          <a:prstGeom prst="roundRect">
            <a:avLst>
              <a:gd name="adj" fmla="val 33904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378" y="2354957"/>
            <a:ext cx="171346" cy="1371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71" y="2322612"/>
            <a:ext cx="3830442" cy="407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Example:</a:t>
            </a: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 customer returns a product worth 150 SAR and receives 150 SAR back.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984032" y="3114179"/>
            <a:ext cx="4515828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3" name="Text 9"/>
          <p:cNvSpPr/>
          <p:nvPr/>
        </p:nvSpPr>
        <p:spPr>
          <a:xfrm>
            <a:off x="6984032" y="3341688"/>
            <a:ext cx="5125413" cy="203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Response Codes: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4032" y="3711277"/>
          <a:ext cx="4515829" cy="2390914"/>
        </p:xfrm>
        <a:graphic>
          <a:graphicData uri="http://schemas.openxmlformats.org/drawingml/2006/table">
            <a:tbl>
              <a:tblPr/>
              <a:tblGrid>
                <a:gridCol w="1986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8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Code</a:t>
                      </a:r>
                      <a:endParaRPr lang="en-US" sz="10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71427" marR="17142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Meaning</a:t>
                      </a:r>
                      <a:endParaRPr lang="en-US" sz="10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71427" marR="17142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</a:t>
                      </a:r>
                      <a:endParaRPr lang="en-US" sz="10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71427" marR="17142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User not found</a:t>
                      </a:r>
                      <a:endParaRPr lang="en-US" sz="10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71427" marR="17142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</a:t>
                      </a:r>
                      <a:endParaRPr lang="en-US" sz="10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71427" marR="17142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Product not found</a:t>
                      </a:r>
                      <a:endParaRPr lang="en-US" sz="10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71427" marR="17142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</a:t>
                      </a:r>
                      <a:endParaRPr lang="en-US" sz="10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71427" marR="17142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Merchant not found</a:t>
                      </a:r>
                      <a:endParaRPr lang="en-US" sz="10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71427" marR="17142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</a:t>
                      </a:r>
                      <a:endParaRPr lang="en-US" sz="10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71427" marR="17142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Refund processed</a:t>
                      </a:r>
                      <a:endParaRPr lang="en-US" sz="10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71427" marR="17142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8AC7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4</a:t>
                      </a:r>
                      <a:endParaRPr lang="en-US" sz="10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71427" marR="17142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8AC7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Refund completed</a:t>
                      </a:r>
                      <a:endParaRPr lang="en-US" sz="10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71427" marR="17142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6984032" y="4096932"/>
            <a:ext cx="4515828" cy="107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6" name="Shape 11"/>
          <p:cNvSpPr/>
          <p:nvPr/>
        </p:nvSpPr>
        <p:spPr>
          <a:xfrm>
            <a:off x="6984032" y="4496476"/>
            <a:ext cx="4515828" cy="107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7" name="Shape 12"/>
          <p:cNvSpPr/>
          <p:nvPr/>
        </p:nvSpPr>
        <p:spPr>
          <a:xfrm>
            <a:off x="6984032" y="4896020"/>
            <a:ext cx="4515828" cy="107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8" name="Shape 13"/>
          <p:cNvSpPr/>
          <p:nvPr/>
        </p:nvSpPr>
        <p:spPr>
          <a:xfrm>
            <a:off x="6984032" y="5295564"/>
            <a:ext cx="4515828" cy="107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9" name="Shape 14"/>
          <p:cNvSpPr/>
          <p:nvPr/>
        </p:nvSpPr>
        <p:spPr>
          <a:xfrm>
            <a:off x="6984032" y="5695108"/>
            <a:ext cx="4515828" cy="107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SA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5589"/>
            <a:ext cx="10795524" cy="473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Compensation </a:t>
            </a:r>
            <a:r>
              <a:rPr lang="en-US" sz="29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💵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98086" y="1363464"/>
            <a:ext cx="4980161" cy="799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Purpose:</a:t>
            </a: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Allows an administrator to compensate a user by adding money to their balance.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Inputs:</a:t>
            </a: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Admin ID, Amount, User ID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98086" y="2305149"/>
            <a:ext cx="4980161" cy="764183"/>
          </a:xfrm>
          <a:prstGeom prst="roundRect">
            <a:avLst>
              <a:gd name="adj" fmla="val 31202"/>
            </a:avLst>
          </a:prstGeom>
          <a:solidFill>
            <a:srgbClr val="785507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030" y="2497435"/>
            <a:ext cx="198631" cy="1589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4606" y="2458839"/>
            <a:ext cx="4304696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Example:</a:t>
            </a: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 Admin gives a customer 100 SAR compensation due to a service issue.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72333" y="1363464"/>
            <a:ext cx="6037111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How It Works: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072333" y="1734344"/>
            <a:ext cx="317889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72333" y="1985367"/>
            <a:ext cx="2650463" cy="19050"/>
          </a:xfrm>
          <a:prstGeom prst="rect">
            <a:avLst/>
          </a:prstGeom>
          <a:solidFill>
            <a:srgbClr val="F2B42D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Text 7"/>
          <p:cNvSpPr/>
          <p:nvPr/>
        </p:nvSpPr>
        <p:spPr>
          <a:xfrm>
            <a:off x="6072333" y="2102941"/>
            <a:ext cx="2650463" cy="467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Verify that the requester is an Admin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849397" y="1734344"/>
            <a:ext cx="317889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849397" y="1985367"/>
            <a:ext cx="2650463" cy="19050"/>
          </a:xfrm>
          <a:prstGeom prst="rect">
            <a:avLst/>
          </a:prstGeom>
          <a:solidFill>
            <a:srgbClr val="D7425E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3" name="Text 10"/>
          <p:cNvSpPr/>
          <p:nvPr/>
        </p:nvSpPr>
        <p:spPr>
          <a:xfrm>
            <a:off x="8849397" y="2102941"/>
            <a:ext cx="265046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Find the target user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072333" y="2816225"/>
            <a:ext cx="317889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072333" y="3067248"/>
            <a:ext cx="2650463" cy="19050"/>
          </a:xfrm>
          <a:prstGeom prst="rect">
            <a:avLst/>
          </a:prstGeom>
          <a:solidFill>
            <a:srgbClr val="DD785E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6" name="Text 13"/>
          <p:cNvSpPr/>
          <p:nvPr/>
        </p:nvSpPr>
        <p:spPr>
          <a:xfrm>
            <a:off x="6072333" y="3184823"/>
            <a:ext cx="2650463" cy="467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Add the compensation amount to the user's balance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849397" y="2816225"/>
            <a:ext cx="317889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849397" y="3067248"/>
            <a:ext cx="2650463" cy="19050"/>
          </a:xfrm>
          <a:prstGeom prst="rect">
            <a:avLst/>
          </a:prstGeom>
          <a:solidFill>
            <a:srgbClr val="48A8E2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9" name="Text 16"/>
          <p:cNvSpPr/>
          <p:nvPr/>
        </p:nvSpPr>
        <p:spPr>
          <a:xfrm>
            <a:off x="8849397" y="3184823"/>
            <a:ext cx="265046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Complete the operation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6072333" y="3953669"/>
            <a:ext cx="5427527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1" name="Text 18"/>
          <p:cNvSpPr/>
          <p:nvPr/>
        </p:nvSpPr>
        <p:spPr>
          <a:xfrm>
            <a:off x="6072333" y="4154884"/>
            <a:ext cx="6037111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Response Codes:</a:t>
            </a:r>
            <a:endParaRPr lang="en-US" sz="12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72333" y="4525764"/>
          <a:ext cx="5427527" cy="1591430"/>
        </p:xfrm>
        <a:graphic>
          <a:graphicData uri="http://schemas.openxmlformats.org/drawingml/2006/table">
            <a:tbl>
              <a:tblPr/>
              <a:tblGrid>
                <a:gridCol w="2442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5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Code</a:t>
                      </a:r>
                      <a:endParaRPr lang="en-US" sz="12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Meaning</a:t>
                      </a:r>
                      <a:endParaRPr lang="en-US" sz="12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4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</a:t>
                      </a:r>
                      <a:endParaRPr lang="en-US" sz="12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Unauthorized / Not an Admin</a:t>
                      </a:r>
                      <a:endParaRPr lang="en-US" sz="12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4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98AC7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</a:t>
                      </a:r>
                      <a:endParaRPr lang="en-US" sz="12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98AC7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Compensation successful</a:t>
                      </a:r>
                      <a:endParaRPr lang="en-US" sz="12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</a:t>
                      </a:r>
                      <a:endParaRPr lang="en-US" sz="12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User not found</a:t>
                      </a:r>
                      <a:endParaRPr lang="en-US" sz="12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6072333" y="4912099"/>
            <a:ext cx="5427527" cy="993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4" name="Shape 20"/>
          <p:cNvSpPr/>
          <p:nvPr/>
        </p:nvSpPr>
        <p:spPr>
          <a:xfrm>
            <a:off x="6072333" y="5311544"/>
            <a:ext cx="5427527" cy="993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5" name="Shape 21"/>
          <p:cNvSpPr/>
          <p:nvPr/>
        </p:nvSpPr>
        <p:spPr>
          <a:xfrm>
            <a:off x="6072333" y="5710988"/>
            <a:ext cx="5427527" cy="993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SA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6320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Repricing &amp; Discount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1451273"/>
            <a:ext cx="518484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Repricing </a:t>
            </a: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98086" y="1860649"/>
            <a:ext cx="5184844" cy="145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Purpose:</a:t>
            </a: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Allows the system to change the price of an existing product.</a:t>
            </a:r>
            <a:endParaRPr lang="en-US" sz="1050" dirty="0"/>
          </a:p>
          <a:p>
            <a:pPr marL="0" indent="0" algn="l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Inputs:</a:t>
            </a: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Product ID, New Price</a:t>
            </a:r>
            <a:endParaRPr lang="en-US" sz="1050" dirty="0"/>
          </a:p>
          <a:p>
            <a:pPr marL="0" indent="0" algn="l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Example:</a:t>
            </a: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Current Price: 100 SAR → New Price: 120 SAR</a:t>
            </a: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Response Codes:</a:t>
            </a: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0 (Price updated successfully), 1 (New price is the same as the current price), 2 (Product not found)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315115" y="1451273"/>
            <a:ext cx="518484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Discount </a:t>
            </a: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🏷️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15115" y="1860649"/>
            <a:ext cx="5184844" cy="90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Purpose:</a:t>
            </a: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Applies a percentage discount to a product.</a:t>
            </a:r>
            <a:endParaRPr lang="en-US" sz="1050" dirty="0"/>
          </a:p>
          <a:p>
            <a:pPr marL="0" indent="0" algn="l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Inputs:</a:t>
            </a: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Product ID, Discount Percentage</a:t>
            </a: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Formula: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115" y="2956818"/>
            <a:ext cx="5184844" cy="5702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15115" y="3720306"/>
            <a:ext cx="5184844" cy="556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Example:</a:t>
            </a: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Original Price: 200 SAR → Discount: 20% → Final Price: 160 SAR</a:t>
            </a: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Response Codes:</a:t>
            </a: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050" dirty="0">
                <a:solidFill>
                  <a:srgbClr val="F98AC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True</a:t>
            </a: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(Discount applied successfully), False (Product not found)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98086" y="4585593"/>
            <a:ext cx="2584286" cy="900509"/>
          </a:xfrm>
          <a:prstGeom prst="roundRect">
            <a:avLst>
              <a:gd name="adj" fmla="val 29074"/>
            </a:avLst>
          </a:prstGeom>
          <a:solidFill>
            <a:srgbClr val="00002E">
              <a:alpha val="75000"/>
            </a:srgbClr>
          </a:solidFill>
          <a:ln w="19050">
            <a:solidFill>
              <a:srgbClr val="F2B42D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7"/>
          <p:cNvSpPr/>
          <p:nvPr/>
        </p:nvSpPr>
        <p:spPr>
          <a:xfrm>
            <a:off x="891657" y="4779169"/>
            <a:ext cx="219714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Find the product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435066" y="4585593"/>
            <a:ext cx="2584385" cy="900509"/>
          </a:xfrm>
          <a:prstGeom prst="roundRect">
            <a:avLst>
              <a:gd name="adj" fmla="val 29074"/>
            </a:avLst>
          </a:prstGeom>
          <a:solidFill>
            <a:srgbClr val="00002E">
              <a:alpha val="75000"/>
            </a:srgbClr>
          </a:solidFill>
          <a:ln w="19050">
            <a:solidFill>
              <a:srgbClr val="D7425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Text 9"/>
          <p:cNvSpPr/>
          <p:nvPr/>
        </p:nvSpPr>
        <p:spPr>
          <a:xfrm>
            <a:off x="3628637" y="4779169"/>
            <a:ext cx="2197243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Compare new vs. current price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72145" y="4585593"/>
            <a:ext cx="2584385" cy="900509"/>
          </a:xfrm>
          <a:prstGeom prst="roundRect">
            <a:avLst>
              <a:gd name="adj" fmla="val 29074"/>
            </a:avLst>
          </a:prstGeom>
          <a:solidFill>
            <a:srgbClr val="00002E">
              <a:alpha val="75000"/>
            </a:srgbClr>
          </a:solidFill>
          <a:ln w="19050">
            <a:solidFill>
              <a:srgbClr val="DD785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4" name="Text 11"/>
          <p:cNvSpPr/>
          <p:nvPr/>
        </p:nvSpPr>
        <p:spPr>
          <a:xfrm>
            <a:off x="6365716" y="4779169"/>
            <a:ext cx="219724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Update if different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909224" y="4585593"/>
            <a:ext cx="2584385" cy="900509"/>
          </a:xfrm>
          <a:prstGeom prst="roundRect">
            <a:avLst>
              <a:gd name="adj" fmla="val 29074"/>
            </a:avLst>
          </a:prstGeom>
          <a:solidFill>
            <a:srgbClr val="00002E">
              <a:alpha val="75000"/>
            </a:srgbClr>
          </a:solidFill>
          <a:ln w="19050">
            <a:solidFill>
              <a:srgbClr val="48A8E2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6" name="Text 13"/>
          <p:cNvSpPr/>
          <p:nvPr/>
        </p:nvSpPr>
        <p:spPr>
          <a:xfrm>
            <a:off x="9102795" y="4779169"/>
            <a:ext cx="219724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Return result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98086" y="5657850"/>
            <a:ext cx="3496679" cy="643830"/>
          </a:xfrm>
          <a:prstGeom prst="roundRect">
            <a:avLst>
              <a:gd name="adj" fmla="val 40665"/>
            </a:avLst>
          </a:prstGeom>
          <a:solidFill>
            <a:srgbClr val="00002E">
              <a:alpha val="75000"/>
            </a:srgbClr>
          </a:solidFill>
          <a:ln w="19050">
            <a:solidFill>
              <a:srgbClr val="F2B42D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8" name="Text 15"/>
          <p:cNvSpPr/>
          <p:nvPr/>
        </p:nvSpPr>
        <p:spPr>
          <a:xfrm>
            <a:off x="891657" y="5851426"/>
            <a:ext cx="3109537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Find the product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347458" y="5657850"/>
            <a:ext cx="3496679" cy="643830"/>
          </a:xfrm>
          <a:prstGeom prst="roundRect">
            <a:avLst>
              <a:gd name="adj" fmla="val 40665"/>
            </a:avLst>
          </a:prstGeom>
          <a:solidFill>
            <a:srgbClr val="00002E">
              <a:alpha val="75000"/>
            </a:srgbClr>
          </a:solidFill>
          <a:ln w="19050">
            <a:solidFill>
              <a:srgbClr val="D7425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0" name="Text 17"/>
          <p:cNvSpPr/>
          <p:nvPr/>
        </p:nvSpPr>
        <p:spPr>
          <a:xfrm>
            <a:off x="4541029" y="5851426"/>
            <a:ext cx="3109537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Calculate the discounted price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996831" y="5657850"/>
            <a:ext cx="3496679" cy="643830"/>
          </a:xfrm>
          <a:prstGeom prst="roundRect">
            <a:avLst>
              <a:gd name="adj" fmla="val 40665"/>
            </a:avLst>
          </a:prstGeom>
          <a:solidFill>
            <a:srgbClr val="00002E">
              <a:alpha val="75000"/>
            </a:srgbClr>
          </a:solidFill>
          <a:ln w="19050">
            <a:solidFill>
              <a:srgbClr val="DD785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2" name="Text 19"/>
          <p:cNvSpPr/>
          <p:nvPr/>
        </p:nvSpPr>
        <p:spPr>
          <a:xfrm>
            <a:off x="8190402" y="5851426"/>
            <a:ext cx="3109537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Update the product price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236365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Endpoint Overview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2222004"/>
            <a:ext cx="2549263" cy="1360289"/>
          </a:xfrm>
          <a:prstGeom prst="roundRect">
            <a:avLst>
              <a:gd name="adj" fmla="val 21997"/>
            </a:avLst>
          </a:prstGeom>
          <a:solidFill>
            <a:srgbClr val="00002E"/>
          </a:solidFill>
          <a:ln w="19050">
            <a:solidFill>
              <a:srgbClr val="F2B42D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916560" y="2440484"/>
            <a:ext cx="211231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🎁</a:t>
            </a: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Buy Gift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6560" y="2853432"/>
            <a:ext cx="2112314" cy="510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Purchase a product for another user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46773" y="2222004"/>
            <a:ext cx="2549362" cy="1360289"/>
          </a:xfrm>
          <a:prstGeom prst="roundRect">
            <a:avLst>
              <a:gd name="adj" fmla="val 21997"/>
            </a:avLst>
          </a:prstGeom>
          <a:solidFill>
            <a:srgbClr val="00002E"/>
          </a:solidFill>
          <a:ln w="19050">
            <a:solidFill>
              <a:srgbClr val="D7425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3665247" y="2440484"/>
            <a:ext cx="211241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💰</a:t>
            </a: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Refund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65247" y="2853432"/>
            <a:ext cx="2112414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Return money and product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5560" y="2222004"/>
            <a:ext cx="2549263" cy="1360289"/>
          </a:xfrm>
          <a:prstGeom prst="roundRect">
            <a:avLst>
              <a:gd name="adj" fmla="val 21997"/>
            </a:avLst>
          </a:prstGeom>
          <a:solidFill>
            <a:srgbClr val="00002E"/>
          </a:solidFill>
          <a:ln w="19050">
            <a:solidFill>
              <a:srgbClr val="DD785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6414034" y="2440484"/>
            <a:ext cx="211231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💵</a:t>
            </a: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Compensation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14034" y="2853432"/>
            <a:ext cx="2112314" cy="510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Add compensation to a user's balance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44247" y="2222004"/>
            <a:ext cx="2549362" cy="1360289"/>
          </a:xfrm>
          <a:prstGeom prst="roundRect">
            <a:avLst>
              <a:gd name="adj" fmla="val 21997"/>
            </a:avLst>
          </a:prstGeom>
          <a:solidFill>
            <a:srgbClr val="00002E"/>
          </a:solidFill>
          <a:ln w="19050">
            <a:solidFill>
              <a:srgbClr val="48A8E2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9162722" y="2440484"/>
            <a:ext cx="211241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Repricing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62722" y="2853432"/>
            <a:ext cx="2112414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Change the product price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8086" y="3781723"/>
            <a:ext cx="10795524" cy="1105098"/>
          </a:xfrm>
          <a:prstGeom prst="roundRect">
            <a:avLst>
              <a:gd name="adj" fmla="val 27076"/>
            </a:avLst>
          </a:prstGeom>
          <a:solidFill>
            <a:srgbClr val="00002E"/>
          </a:solidFill>
          <a:ln w="19050">
            <a:solidFill>
              <a:srgbClr val="59ABA9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6" name="Text 14"/>
          <p:cNvSpPr/>
          <p:nvPr/>
        </p:nvSpPr>
        <p:spPr>
          <a:xfrm>
            <a:off x="916560" y="4000202"/>
            <a:ext cx="1035857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🏷️</a:t>
            </a: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Discount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6560" y="4413151"/>
            <a:ext cx="10358575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Reduce the product price by a percentage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8086" y="5111155"/>
            <a:ext cx="10795524" cy="510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Key Benefits:</a:t>
            </a: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Improves customer experience, supports flexible product management, provides administrative control, handles common e-commerce operations, adds more functionality beyond basic CRUD.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0132"/>
            <a:ext cx="10795524" cy="467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Response Code Reference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98086" y="1300956"/>
            <a:ext cx="1140510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consolidated reference of all response codes across the five endpoints.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086" y="1626195"/>
          <a:ext cx="10795524" cy="4638755"/>
        </p:xfrm>
        <a:graphic>
          <a:graphicData uri="http://schemas.openxmlformats.org/drawingml/2006/table">
            <a:tbl>
              <a:tblPr/>
              <a:tblGrid>
                <a:gridCol w="3022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8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72525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Endpoint</a:t>
                      </a:r>
                      <a:endParaRPr lang="en-US" sz="12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A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72525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Code</a:t>
                      </a:r>
                      <a:endParaRPr lang="en-US" sz="12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A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72525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Meaning</a:t>
                      </a:r>
                      <a:endParaRPr lang="en-US" sz="12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A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 Buy Gift</a:t>
                      </a:r>
                      <a:endParaRPr lang="en-US" sz="10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0–4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Not found / Out of stock / Insufficient balance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 Buy Gift</a:t>
                      </a:r>
                      <a:endParaRPr lang="en-US" sz="10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5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Gift purchased successfully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 Refund</a:t>
                      </a:r>
                      <a:endParaRPr lang="en-US" sz="10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0–2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User / Product / Merchant not found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 Refund</a:t>
                      </a:r>
                      <a:endParaRPr lang="en-US" sz="10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3–4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Refund processed / Refund completed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 Compensation</a:t>
                      </a:r>
                      <a:endParaRPr lang="en-US" sz="10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Unauthorized / Not an Admin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 Compensation</a:t>
                      </a:r>
                      <a:endParaRPr lang="en-US" sz="10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Compensation successful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 Compensation</a:t>
                      </a:r>
                      <a:endParaRPr lang="en-US" sz="10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User not found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 Repricing</a:t>
                      </a:r>
                      <a:endParaRPr lang="en-US" sz="10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Price updated successfully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 Repricing</a:t>
                      </a:r>
                      <a:endParaRPr lang="en-US" sz="10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New price is the same as the current price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 Repricing</a:t>
                      </a:r>
                      <a:endParaRPr lang="en-US" sz="10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Product not found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3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 Discount</a:t>
                      </a:r>
                      <a:endParaRPr lang="en-US" sz="10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True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Discount applied successfully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0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 Discount</a:t>
                      </a:r>
                      <a:endParaRPr lang="en-US" sz="10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False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Product not found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58960" marR="158960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01306" y="2148840"/>
            <a:ext cx="278633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rPr>
                <a:solidFill>
                  <a:schemeClr val="bg1"/>
                </a:solidFill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2560" y="3429000"/>
            <a:ext cx="15838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rPr>
                <a:solidFill>
                  <a:schemeClr val="bg1"/>
                </a:solidFill>
              </a:rPr>
              <a:t>Questions?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611</Words>
  <Application>Microsoft Macintosh PowerPoint</Application>
  <PresentationFormat>Widescreen</PresentationFormat>
  <Paragraphs>157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PT Sans Bold</vt:lpstr>
      <vt:lpstr>Twemoji Mozilla</vt:lpstr>
      <vt:lpstr>Twemoji Mozilla, Apple Color Emoji, Segoe UI Emoji, Segoe UI Symbol, Noto Color Emoji, EmojiOne Color, Android Emoji, sans-serif</vt:lpstr>
      <vt:lpstr>Nunito SemiBold</vt:lpstr>
      <vt:lpstr>PT Sans</vt:lpstr>
      <vt:lpstr>Nunito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FAISAL ABDULRAHMAN SALEM BAGEIS</cp:lastModifiedBy>
  <cp:revision>3</cp:revision>
  <dcterms:created xsi:type="dcterms:W3CDTF">2026-09-15T16:58:01Z</dcterms:created>
  <dcterms:modified xsi:type="dcterms:W3CDTF">2026-09-15T17:22:36Z</dcterms:modified>
</cp:coreProperties>
</file>